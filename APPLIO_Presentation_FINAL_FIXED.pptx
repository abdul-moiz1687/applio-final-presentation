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11201400" cy="5897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786384"/>
            <a:ext cx="1645920" cy="310896"/>
          </a:xfrm>
          <a:prstGeom prst="roundRect">
            <a:avLst/>
          </a:prstGeom>
          <a:solidFill>
            <a:srgbClr val="127470"/>
          </a:solidFill>
          <a:ln w="12700">
            <a:solidFill>
              <a:srgbClr val="12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795528"/>
            <a:ext cx="1645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B2B2C • AFTER-SALES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2926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200" b="1">
                <a:solidFill>
                  <a:srgbClr val="141817"/>
                </a:solidFill>
                <a:latin typeface="Aptos"/>
              </a:rPr>
              <a:t>APPLIO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6035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27470"/>
                </a:solidFill>
                <a:latin typeface="Aptos"/>
              </a:rPr>
              <a:t>Digital Appliance Passport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87168"/>
            <a:ext cx="58521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0">
                <a:solidFill>
                  <a:srgbClr val="636764"/>
                </a:solidFill>
                <a:latin typeface="Aptos"/>
              </a:rPr>
              <a:t>From purchase to lifetime service.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127248"/>
            <a:ext cx="548640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141817"/>
                </a:solidFill>
                <a:latin typeface="Aptos"/>
              </a:rPr>
              <a:t>A connected after-sales layer for brands, dealers, customers and service teams.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5074920"/>
            <a:ext cx="54864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141817"/>
                </a:solidFill>
                <a:latin typeface="Aptos"/>
              </a:rPr>
              <a:t>One appliance. One digital history.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987552"/>
            <a:ext cx="29718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55279" y="1307592"/>
            <a:ext cx="1417320" cy="310896"/>
          </a:xfrm>
          <a:prstGeom prst="roundRect">
            <a:avLst/>
          </a:prstGeom>
          <a:solidFill>
            <a:srgbClr val="E3F3F0"/>
          </a:solidFill>
          <a:ln w="12700">
            <a:solidFill>
              <a:srgbClr val="E3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1316736"/>
            <a:ext cx="14173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127470"/>
                </a:solidFill>
                <a:latin typeface="Aptos"/>
              </a:rPr>
              <a:t>DIGITAL PASSPORT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1828800"/>
            <a:ext cx="128016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636764"/>
                </a:solidFill>
                <a:latin typeface="Aptos"/>
              </a:rPr>
              <a:t>HAIER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148840"/>
            <a:ext cx="20116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141817"/>
                </a:solidFill>
                <a:latin typeface="Aptos"/>
              </a:rPr>
              <a:t>Lounge 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542032"/>
            <a:ext cx="2286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36764"/>
                </a:solidFill>
                <a:latin typeface="Aptos"/>
              </a:rPr>
              <a:t>HSU-18 • Serial HSR-12345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2907792"/>
            <a:ext cx="749808" cy="310896"/>
          </a:xfrm>
          <a:prstGeom prst="roundRect">
            <a:avLst/>
          </a:prstGeom>
          <a:solidFill>
            <a:srgbClr val="279A6B"/>
          </a:solidFill>
          <a:ln w="12700">
            <a:solidFill>
              <a:srgbClr val="27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2916936"/>
            <a:ext cx="749808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456432"/>
            <a:ext cx="9144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Purchase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832" y="3456432"/>
            <a:ext cx="12344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41817"/>
                </a:solidFill>
                <a:latin typeface="Aptos"/>
              </a:rPr>
              <a:t>14 Aug 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886200"/>
            <a:ext cx="9144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Warranty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3886200"/>
            <a:ext cx="12344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41817"/>
                </a:solidFill>
                <a:latin typeface="Aptos"/>
              </a:rPr>
              <a:t>Sep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4315968"/>
            <a:ext cx="9144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2832" y="4315968"/>
            <a:ext cx="12344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41817"/>
                </a:solidFill>
                <a:latin typeface="Aptos"/>
              </a:rPr>
              <a:t>5 records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4745736"/>
            <a:ext cx="9144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Spend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4745736"/>
            <a:ext cx="12344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41817"/>
                </a:solidFill>
                <a:latin typeface="Aptos"/>
              </a:rPr>
              <a:t>PKR 18,700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37960"/>
            <a:ext cx="13716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36764"/>
                </a:solidFill>
                <a:latin typeface="Aptos"/>
              </a:rPr>
              <a:t>APPLIO  •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194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27470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141817"/>
                </a:solidFill>
                <a:latin typeface="Aptos"/>
              </a:rPr>
              <a:t>The problem starts after the sale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332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36764"/>
                </a:solidFill>
                <a:latin typeface="Aptos"/>
              </a:rPr>
              <a:t>The appliance is still there. The history is not.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21408"/>
            <a:ext cx="22128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2331720"/>
            <a:ext cx="960120" cy="310896"/>
          </a:xfrm>
          <a:prstGeom prst="roundRect">
            <a:avLst/>
          </a:prstGeom>
          <a:solidFill>
            <a:srgbClr val="127470"/>
          </a:solidFill>
          <a:ln w="12700">
            <a:solidFill>
              <a:srgbClr val="12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340863"/>
            <a:ext cx="960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BUY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44368"/>
            <a:ext cx="18288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41817"/>
                </a:solidFill>
                <a:latin typeface="Aptos"/>
              </a:rPr>
              <a:t>Invoice + warranty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62656" y="2834640"/>
            <a:ext cx="530352" cy="0"/>
          </a:xfrm>
          <a:prstGeom prst="line">
            <a:avLst/>
          </a:prstGeom>
          <a:ln w="25400">
            <a:solidFill>
              <a:srgbClr val="127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20439" y="2121408"/>
            <a:ext cx="22128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85031" y="2331720"/>
            <a:ext cx="960120" cy="310896"/>
          </a:xfrm>
          <a:prstGeom prst="roundRect">
            <a:avLst/>
          </a:prstGeom>
          <a:solidFill>
            <a:srgbClr val="127470"/>
          </a:solidFill>
          <a:ln w="12700">
            <a:solidFill>
              <a:srgbClr val="12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1" y="2340863"/>
            <a:ext cx="960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1" y="2944368"/>
            <a:ext cx="18288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41817"/>
                </a:solidFill>
                <a:latin typeface="Aptos"/>
              </a:rPr>
              <a:t>Phone / WhatsApp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51575" y="2834640"/>
            <a:ext cx="530352" cy="0"/>
          </a:xfrm>
          <a:prstGeom prst="line">
            <a:avLst/>
          </a:prstGeom>
          <a:ln w="25400">
            <a:solidFill>
              <a:srgbClr val="127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09359" y="2121408"/>
            <a:ext cx="22128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73951" y="2331720"/>
            <a:ext cx="960120" cy="310896"/>
          </a:xfrm>
          <a:prstGeom prst="roundRect">
            <a:avLst/>
          </a:prstGeom>
          <a:solidFill>
            <a:srgbClr val="122629"/>
          </a:solidFill>
          <a:ln w="12700">
            <a:solidFill>
              <a:srgbClr val="122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1" y="2340863"/>
            <a:ext cx="960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REPAIR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1" y="2944368"/>
            <a:ext cx="18288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41817"/>
                </a:solidFill>
                <a:latin typeface="Aptos"/>
              </a:rPr>
              <a:t>Paper / memory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540496" y="2834640"/>
            <a:ext cx="530352" cy="0"/>
          </a:xfrm>
          <a:prstGeom prst="line">
            <a:avLst/>
          </a:prstGeom>
          <a:ln w="25400">
            <a:solidFill>
              <a:srgbClr val="127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098280" y="2121408"/>
            <a:ext cx="221284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62872" y="2331720"/>
            <a:ext cx="960120" cy="310896"/>
          </a:xfrm>
          <a:prstGeom prst="roundRect">
            <a:avLst/>
          </a:prstGeom>
          <a:solidFill>
            <a:srgbClr val="122629"/>
          </a:solidFill>
          <a:ln w="12700">
            <a:solidFill>
              <a:srgbClr val="122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872" y="2340863"/>
            <a:ext cx="960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NEXT VISIT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2944368"/>
            <a:ext cx="18288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41817"/>
                </a:solidFill>
                <a:latin typeface="Aptos"/>
              </a:rPr>
              <a:t>Explain it again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51960"/>
            <a:ext cx="5166360" cy="1234440"/>
          </a:xfrm>
          <a:prstGeom prst="roundRect">
            <a:avLst/>
          </a:prstGeom>
          <a:solidFill>
            <a:srgbClr val="122629"/>
          </a:solidFill>
          <a:ln w="12700">
            <a:solidFill>
              <a:srgbClr val="122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462272"/>
            <a:ext cx="12344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AFC9C7"/>
                </a:solidFill>
                <a:latin typeface="Aptos"/>
              </a:rPr>
              <a:t>Customer asks: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791456"/>
            <a:ext cx="44805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“What was repaired last time?”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251960"/>
            <a:ext cx="4892040" cy="1234440"/>
          </a:xfrm>
          <a:prstGeom prst="roundRect">
            <a:avLst/>
          </a:prstGeom>
          <a:solidFill>
            <a:srgbClr val="E3F3F0"/>
          </a:solidFill>
          <a:ln w="12700">
            <a:solidFill>
              <a:srgbClr val="E3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590288"/>
            <a:ext cx="4297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127470"/>
                </a:solidFill>
                <a:latin typeface="Aptos"/>
              </a:rPr>
              <a:t>APPLIO answers with the appliance record.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37960"/>
            <a:ext cx="13716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36764"/>
                </a:solidFill>
                <a:latin typeface="Aptos"/>
              </a:rPr>
              <a:t>APPLIO  •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194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F6B68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171918"/>
                </a:solidFill>
                <a:latin typeface="Aptos"/>
              </a:rPr>
              <a:t>Competitor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4241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5C615E"/>
                </a:solidFill>
                <a:latin typeface="Aptos"/>
              </a:rPr>
              <a:t>We checked current product pages and app listings. These are real features, not assumptions.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8523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59" y="1929384"/>
            <a:ext cx="658368" cy="292608"/>
          </a:xfrm>
          <a:prstGeom prst="roundRect">
            <a:avLst/>
          </a:prstGeom>
          <a:solidFill>
            <a:srgbClr val="0F6B68"/>
          </a:solidFill>
          <a:ln w="12700">
            <a:solidFill>
              <a:srgbClr val="0F6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33955"/>
            <a:ext cx="749808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1056" y="1874519"/>
            <a:ext cx="4160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71918"/>
                </a:solidFill>
                <a:latin typeface="Aptos"/>
              </a:rPr>
              <a:t>HOMECARE: APPLIANCE TRACKER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139696"/>
            <a:ext cx="41605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5C615E"/>
                </a:solidFill>
                <a:latin typeface="Aptos"/>
              </a:rPr>
              <a:t>Warranty • service history • repair costs • maintenance reminders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69464"/>
            <a:ext cx="49560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0F6B68"/>
                </a:solidFill>
                <a:latin typeface="Aptos"/>
              </a:rPr>
              <a:t>https://play.google.com/store/apps/details?id=com.homecare.appliancetracker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783080"/>
            <a:ext cx="528523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6520" y="1929384"/>
            <a:ext cx="658368" cy="292608"/>
          </a:xfrm>
          <a:prstGeom prst="roundRect">
            <a:avLst/>
          </a:prstGeom>
          <a:solidFill>
            <a:srgbClr val="3E6FF4"/>
          </a:solidFill>
          <a:ln w="12700">
            <a:solidFill>
              <a:srgbClr val="3E6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33955"/>
            <a:ext cx="749808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4616" y="1874519"/>
            <a:ext cx="4160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71918"/>
                </a:solidFill>
                <a:latin typeface="Aptos"/>
              </a:rPr>
              <a:t>APPLIKEep: SERVICE 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4616" y="2139696"/>
            <a:ext cx="4160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C615E"/>
                </a:solidFill>
                <a:latin typeface="Aptos"/>
              </a:rPr>
              <a:t>Warranty • service dates • repair history • technician details • receipts • cost reports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569464"/>
            <a:ext cx="49560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0F6B68"/>
                </a:solidFill>
                <a:latin typeface="Aptos"/>
              </a:rPr>
              <a:t>https://play.google.com/store/apps/details?id=com.applikeep.servicelog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118104"/>
            <a:ext cx="528523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59" y="3264408"/>
            <a:ext cx="658368" cy="292608"/>
          </a:xfrm>
          <a:prstGeom prst="roundRect">
            <a:avLst/>
          </a:prstGeom>
          <a:solidFill>
            <a:srgbClr val="279A6B"/>
          </a:solidFill>
          <a:ln w="12700">
            <a:solidFill>
              <a:srgbClr val="27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3268980"/>
            <a:ext cx="749808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91056" y="3209544"/>
            <a:ext cx="4160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71918"/>
                </a:solidFill>
                <a:latin typeface="Aptos"/>
              </a:rPr>
              <a:t>MAHIR COMPANY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3474720"/>
            <a:ext cx="4160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C615E"/>
                </a:solidFill>
                <a:latin typeface="Aptos"/>
              </a:rPr>
              <a:t>Home-service booking • AC/appliance services • 200+ services • verified professionals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3904488"/>
            <a:ext cx="49560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0F6B68"/>
                </a:solidFill>
                <a:latin typeface="Aptos"/>
              </a:rPr>
              <a:t>https://play.google.com/store/apps/details?id=com.mrmahir.customer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81928" y="3118104"/>
            <a:ext cx="528523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46520" y="3264408"/>
            <a:ext cx="658368" cy="292608"/>
          </a:xfrm>
          <a:prstGeom prst="roundRect">
            <a:avLst/>
          </a:prstGeom>
          <a:solidFill>
            <a:srgbClr val="E7A93B"/>
          </a:solidFill>
          <a:ln w="12700">
            <a:solidFill>
              <a:srgbClr val="E7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268980"/>
            <a:ext cx="749808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SOURCE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14616" y="3209544"/>
            <a:ext cx="4160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71918"/>
                </a:solidFill>
                <a:latin typeface="Aptos"/>
              </a:rPr>
              <a:t>ROYAL SMART 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14616" y="3474720"/>
            <a:ext cx="41605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5C615E"/>
                </a:solidFill>
                <a:latin typeface="Aptos"/>
              </a:rPr>
              <a:t>Dealer QR scan • customer registration • warranty • after-sales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904488"/>
            <a:ext cx="49560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0F6B68"/>
                </a:solidFill>
                <a:latin typeface="Aptos"/>
              </a:rPr>
              <a:t>https://play.google.com/store/apps/details?id=com.royalfans.veronit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453128"/>
            <a:ext cx="528523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59" y="4599432"/>
            <a:ext cx="658368" cy="292608"/>
          </a:xfrm>
          <a:prstGeom prst="roundRect">
            <a:avLst/>
          </a:prstGeom>
          <a:solidFill>
            <a:srgbClr val="132222"/>
          </a:solidFill>
          <a:ln w="12700">
            <a:solidFill>
              <a:srgbClr val="13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4604004"/>
            <a:ext cx="749808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SOURCE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91056" y="4544568"/>
            <a:ext cx="4160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71918"/>
                </a:solidFill>
                <a:latin typeface="Aptos"/>
              </a:rPr>
              <a:t>HYSABONE ELECTRONICS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91056" y="4809744"/>
            <a:ext cx="41605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5C615E"/>
                </a:solidFill>
                <a:latin typeface="Aptos"/>
              </a:rPr>
              <a:t>Appliance dealer ERP • serial tracking • warranty • service records • billing/inventory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" y="5239512"/>
            <a:ext cx="495604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0F6B68"/>
                </a:solidFill>
                <a:latin typeface="Aptos"/>
              </a:rPr>
              <a:t>https://hysabone.com/industries/electronics/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788152"/>
            <a:ext cx="109728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5C615E"/>
                </a:solidFill>
                <a:latin typeface="Aptos"/>
              </a:rPr>
              <a:t>Evidence note: competitor features are shown as stated by the companies/listings; APPLIO’s “gap” is our proposed positioning, not a claim that nobody else can do 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37960"/>
            <a:ext cx="13716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5C615E"/>
                </a:solidFill>
                <a:latin typeface="Aptos"/>
              </a:rPr>
              <a:t>APPLIO  •  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6528816"/>
            <a:ext cx="28346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5C615E"/>
                </a:solidFill>
                <a:latin typeface="Aptos"/>
              </a:rPr>
              <a:t>Sources checked: 15 Sep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194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F6B68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71918"/>
                </a:solidFill>
                <a:latin typeface="Aptos"/>
              </a:rPr>
              <a:t>What already exists vs. our proposed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5C615E"/>
                </a:solidFill>
                <a:latin typeface="Aptos"/>
              </a:rPr>
              <a:t>The important question is not “does this feature exist?” — it is “who is connected to whom, and when does the record begin?”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19202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0F6B68"/>
                </a:solidFill>
                <a:latin typeface="Aptos"/>
              </a:rPr>
              <a:t>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0048" y="1874519"/>
            <a:ext cx="36576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0F6B68"/>
                </a:solidFill>
                <a:latin typeface="Aptos"/>
              </a:rPr>
              <a:t>WHAT IT ALREADY SOLVES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74519"/>
            <a:ext cx="42519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0F6B68"/>
                </a:solidFill>
                <a:latin typeface="Aptos"/>
              </a:rPr>
              <a:t>OUR PROPOSED POSITIONING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240280"/>
            <a:ext cx="10058400" cy="722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395728"/>
            <a:ext cx="164592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71918"/>
                </a:solidFill>
                <a:latin typeface="Aptos"/>
              </a:rPr>
              <a:t>HomeCare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048" y="2340864"/>
            <a:ext cx="35204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C615E"/>
                </a:solidFill>
                <a:latin typeface="Aptos"/>
              </a:rPr>
              <a:t>User adds appliance → warranty/service/cost/reminders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40864"/>
            <a:ext cx="4160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71918"/>
                </a:solidFill>
                <a:latin typeface="Aptos"/>
              </a:rPr>
              <a:t>Dealer/brand can create the record at purchase; history then stays customer-facing.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044952"/>
            <a:ext cx="10058400" cy="722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200400"/>
            <a:ext cx="164592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71918"/>
                </a:solidFill>
                <a:latin typeface="Aptos"/>
              </a:rPr>
              <a:t>AppliKeep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3145536"/>
            <a:ext cx="35204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C615E"/>
                </a:solidFill>
                <a:latin typeface="Aptos"/>
              </a:rPr>
              <a:t>User-managed service log → technician + receipts + costs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145536"/>
            <a:ext cx="4160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71918"/>
                </a:solidFill>
                <a:latin typeface="Aptos"/>
              </a:rPr>
              <a:t>Same lifecycle idea, but our proposal starts at the sale and connects dealer + customer + service.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849624"/>
            <a:ext cx="10058400" cy="722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005072"/>
            <a:ext cx="164592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71918"/>
                </a:solidFill>
                <a:latin typeface="Aptos"/>
              </a:rPr>
              <a:t>Mahir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0048" y="3950208"/>
            <a:ext cx="35204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C615E"/>
                </a:solidFill>
                <a:latin typeface="Aptos"/>
              </a:rPr>
              <a:t>Find/book home-service professionals; verified providers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950208"/>
            <a:ext cx="4160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71918"/>
                </a:solidFill>
                <a:latin typeface="Aptos"/>
              </a:rPr>
              <a:t>We do not start as a generic service marketplace; booking is triggered by the appliance record.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654296"/>
            <a:ext cx="10058400" cy="722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809744"/>
            <a:ext cx="164592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71918"/>
                </a:solidFill>
                <a:latin typeface="Aptos"/>
              </a:rPr>
              <a:t>Royal Smart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0048" y="4754880"/>
            <a:ext cx="35204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C615E"/>
                </a:solidFill>
                <a:latin typeface="Aptos"/>
              </a:rPr>
              <a:t>Authorized dealer QR registration + warranty + after-sales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754880"/>
            <a:ext cx="4160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71918"/>
                </a:solidFill>
                <a:latin typeface="Aptos"/>
              </a:rPr>
              <a:t>We propose a multi-brand customer passport rather than a single-brand system.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458968"/>
            <a:ext cx="10058400" cy="722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614416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71918"/>
                </a:solidFill>
                <a:latin typeface="Aptos"/>
              </a:rPr>
              <a:t>HysabOne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70048" y="5559552"/>
            <a:ext cx="3520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C615E"/>
                </a:solidFill>
                <a:latin typeface="Aptos"/>
              </a:rPr>
              <a:t>Dealer ERP: serials + warranty + service records + billing/inventory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559552"/>
            <a:ext cx="4160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71918"/>
                </a:solidFill>
                <a:latin typeface="Aptos"/>
              </a:rPr>
              <a:t>We do not replace ERP; APPLIO is the customer-facing after-sales layer.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6400800"/>
            <a:ext cx="1389888" cy="292608"/>
          </a:xfrm>
          <a:prstGeom prst="roundRect">
            <a:avLst/>
          </a:prstGeom>
          <a:solidFill>
            <a:srgbClr val="0F6B68"/>
          </a:solidFill>
          <a:ln w="12700">
            <a:solidFill>
              <a:srgbClr val="0F6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6400800"/>
            <a:ext cx="1389888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OUR PROPOSED GAP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6400800"/>
            <a:ext cx="80924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71918"/>
                </a:solidFill>
                <a:latin typeface="Aptos"/>
              </a:rPr>
              <a:t>Multi-brand + dealer-originated passport + customer-owned lifetime service history.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693408"/>
            <a:ext cx="13716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5C615E"/>
                </a:solidFill>
                <a:latin typeface="Aptos"/>
              </a:rPr>
              <a:t>APPLIO  •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194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27470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141817"/>
                </a:solidFill>
                <a:latin typeface="Aptos"/>
              </a:rPr>
              <a:t>Our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332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36764"/>
                </a:solidFill>
                <a:latin typeface="Aptos"/>
              </a:rPr>
              <a:t>The appliance is the center of the lifecycle.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1874519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395728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41817"/>
                </a:solidFill>
                <a:latin typeface="Aptos"/>
              </a:rPr>
              <a:t>BRAND /
DISTRIBUTOR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3136392"/>
            <a:ext cx="1261872" cy="310896"/>
          </a:xfrm>
          <a:prstGeom prst="roundRect">
            <a:avLst/>
          </a:prstGeom>
          <a:solidFill>
            <a:srgbClr val="122629"/>
          </a:solidFill>
          <a:ln w="12700">
            <a:solidFill>
              <a:srgbClr val="122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3145536"/>
            <a:ext cx="126187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funds / sponsors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95728" y="2907792"/>
            <a:ext cx="356616" cy="0"/>
          </a:xfrm>
          <a:prstGeom prst="line">
            <a:avLst/>
          </a:prstGeom>
          <a:ln w="25400">
            <a:solidFill>
              <a:srgbClr val="127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39" y="2148840"/>
            <a:ext cx="1874519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368" y="2395728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41817"/>
                </a:solidFill>
                <a:latin typeface="Aptos"/>
              </a:rPr>
              <a:t>DEALER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36391" y="3136392"/>
            <a:ext cx="1261872" cy="310896"/>
          </a:xfrm>
          <a:prstGeom prst="roundRect">
            <a:avLst/>
          </a:prstGeom>
          <a:solidFill>
            <a:srgbClr val="122629"/>
          </a:solidFill>
          <a:ln w="12700">
            <a:solidFill>
              <a:srgbClr val="122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36391" y="3145536"/>
            <a:ext cx="126187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registers sale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27448" y="2907792"/>
            <a:ext cx="356616" cy="0"/>
          </a:xfrm>
          <a:prstGeom prst="line">
            <a:avLst/>
          </a:prstGeom>
          <a:ln w="25400">
            <a:solidFill>
              <a:srgbClr val="127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66359" y="2148840"/>
            <a:ext cx="1874519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76088" y="2395728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41817"/>
                </a:solidFill>
                <a:latin typeface="Aptos"/>
              </a:rPr>
              <a:t>DIGITAL
PASSPORT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68112" y="3136392"/>
            <a:ext cx="1261872" cy="310896"/>
          </a:xfrm>
          <a:prstGeom prst="roundRect">
            <a:avLst/>
          </a:prstGeom>
          <a:solidFill>
            <a:srgbClr val="127470"/>
          </a:solidFill>
          <a:ln w="12700">
            <a:solidFill>
              <a:srgbClr val="12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68112" y="3145536"/>
            <a:ext cx="126187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starts history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59167" y="2907792"/>
            <a:ext cx="356616" cy="0"/>
          </a:xfrm>
          <a:prstGeom prst="line">
            <a:avLst/>
          </a:prstGeom>
          <a:ln w="25400">
            <a:solidFill>
              <a:srgbClr val="127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98079" y="2148840"/>
            <a:ext cx="1874519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7807" y="2395728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41817"/>
                </a:solidFill>
                <a:latin typeface="Aptos"/>
              </a:rPr>
              <a:t>CUSTOMER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99831" y="3136392"/>
            <a:ext cx="1261872" cy="310896"/>
          </a:xfrm>
          <a:prstGeom prst="roundRect">
            <a:avLst/>
          </a:prstGeom>
          <a:solidFill>
            <a:srgbClr val="122629"/>
          </a:solidFill>
          <a:ln w="12700">
            <a:solidFill>
              <a:srgbClr val="122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99831" y="3145536"/>
            <a:ext cx="126187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owns record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90888" y="2907792"/>
            <a:ext cx="356616" cy="0"/>
          </a:xfrm>
          <a:prstGeom prst="line">
            <a:avLst/>
          </a:prstGeom>
          <a:ln w="25400">
            <a:solidFill>
              <a:srgbClr val="127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29800" y="2148840"/>
            <a:ext cx="1874519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39528" y="2395728"/>
            <a:ext cx="1645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41817"/>
                </a:solidFill>
                <a:latin typeface="Aptos"/>
              </a:rPr>
              <a:t>SERVICE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31552" y="3136392"/>
            <a:ext cx="1261872" cy="310896"/>
          </a:xfrm>
          <a:prstGeom prst="roundRect">
            <a:avLst/>
          </a:prstGeom>
          <a:solidFill>
            <a:srgbClr val="122629"/>
          </a:solidFill>
          <a:ln w="12700">
            <a:solidFill>
              <a:srgbClr val="122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31552" y="3145536"/>
            <a:ext cx="126187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updates history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" y="4343400"/>
            <a:ext cx="10149840" cy="914400"/>
          </a:xfrm>
          <a:prstGeom prst="roundRect">
            <a:avLst/>
          </a:prstGeom>
          <a:solidFill>
            <a:srgbClr val="E3F3F0"/>
          </a:solidFill>
          <a:ln w="12700">
            <a:solidFill>
              <a:srgbClr val="E3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4440" y="4617720"/>
            <a:ext cx="969264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127470"/>
                </a:solidFill>
                <a:latin typeface="Aptos"/>
              </a:rPr>
              <a:t>From sale → passport → service → history.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37960"/>
            <a:ext cx="13716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36764"/>
                </a:solidFill>
                <a:latin typeface="Aptos"/>
              </a:rPr>
              <a:t>APPLIO  •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194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27470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141817"/>
                </a:solidFill>
                <a:latin typeface="Aptos"/>
              </a:rPr>
              <a:t>Why each side participates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332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36764"/>
                </a:solidFill>
                <a:latin typeface="Aptos"/>
              </a:rPr>
              <a:t>Every participant gets a concrete benefit. No “everyone pays”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01952"/>
            <a:ext cx="107899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19456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41817"/>
                </a:solidFill>
                <a:latin typeface="Aptos"/>
              </a:rPr>
              <a:t>BRAND / DISTRIBUTOR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0128" y="2093976"/>
            <a:ext cx="1417320" cy="310896"/>
          </a:xfrm>
          <a:prstGeom prst="roundRect">
            <a:avLst/>
          </a:prstGeom>
          <a:solidFill>
            <a:srgbClr val="127470"/>
          </a:solidFill>
          <a:ln w="12700">
            <a:solidFill>
              <a:srgbClr val="12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0128" y="2103120"/>
            <a:ext cx="14173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2039112"/>
            <a:ext cx="60807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141817"/>
                </a:solidFill>
                <a:latin typeface="Aptos"/>
              </a:rPr>
              <a:t>After-sales visibility • warranty • customer lifecycle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816352"/>
            <a:ext cx="107899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71800"/>
            <a:ext cx="219456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41817"/>
                </a:solidFill>
                <a:latin typeface="Aptos"/>
              </a:rPr>
              <a:t>DEALER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3008376"/>
            <a:ext cx="1417320" cy="310896"/>
          </a:xfrm>
          <a:prstGeom prst="roundRect">
            <a:avLst/>
          </a:prstGeom>
          <a:solidFill>
            <a:srgbClr val="4567DC"/>
          </a:solidFill>
          <a:ln w="12700">
            <a:solidFill>
              <a:srgbClr val="45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3017520"/>
            <a:ext cx="14173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FREE / INCLUDED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953512"/>
            <a:ext cx="60807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141817"/>
                </a:solidFill>
                <a:latin typeface="Aptos"/>
              </a:rPr>
              <a:t>Faster registration • less paperwork • service handoff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30752"/>
            <a:ext cx="107899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86200"/>
            <a:ext cx="219456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41817"/>
                </a:solidFill>
                <a:latin typeface="Aptos"/>
              </a:rPr>
              <a:t>CUSTOMER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0128" y="3922776"/>
            <a:ext cx="1417320" cy="310896"/>
          </a:xfrm>
          <a:prstGeom prst="roundRect">
            <a:avLst/>
          </a:prstGeom>
          <a:solidFill>
            <a:srgbClr val="279A6B"/>
          </a:solidFill>
          <a:ln w="12700">
            <a:solidFill>
              <a:srgbClr val="27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0128" y="3931920"/>
            <a:ext cx="14173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3867912"/>
            <a:ext cx="60807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141817"/>
                </a:solidFill>
                <a:latin typeface="Aptos"/>
              </a:rPr>
              <a:t>Digital passport • warranty • history • reminders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645152"/>
            <a:ext cx="107899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00600"/>
            <a:ext cx="219456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41817"/>
                </a:solidFill>
                <a:latin typeface="Aptos"/>
              </a:rPr>
              <a:t>TECHNICIAN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10128" y="4837176"/>
            <a:ext cx="1417320" cy="310896"/>
          </a:xfrm>
          <a:prstGeom prst="roundRect">
            <a:avLst/>
          </a:prstGeom>
          <a:solidFill>
            <a:srgbClr val="E0A338"/>
          </a:solidFill>
          <a:ln w="12700">
            <a:solidFill>
              <a:srgbClr val="E0A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0128" y="4846320"/>
            <a:ext cx="14173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4782312"/>
            <a:ext cx="60807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141817"/>
                </a:solidFill>
                <a:latin typeface="Aptos"/>
              </a:rPr>
              <a:t>Qualified jobs • appliance context • reputation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26080" y="5742432"/>
            <a:ext cx="6309360" cy="457200"/>
          </a:xfrm>
          <a:prstGeom prst="roundRect">
            <a:avLst/>
          </a:prstGeom>
          <a:solidFill>
            <a:srgbClr val="122629"/>
          </a:solidFill>
          <a:ln w="12700">
            <a:solidFill>
              <a:srgbClr val="122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3240" y="5833872"/>
            <a:ext cx="6035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Primary model: B2B SaaS • Later: service transaction revenue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37960"/>
            <a:ext cx="13716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36764"/>
                </a:solidFill>
                <a:latin typeface="Aptos"/>
              </a:rPr>
              <a:t>APPLIO  •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194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27470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141817"/>
                </a:solidFill>
                <a:latin typeface="Aptos"/>
              </a:rPr>
              <a:t>Dealer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332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36764"/>
                </a:solidFill>
                <a:latin typeface="Aptos"/>
              </a:rPr>
              <a:t>The dealer does not need to become a service company.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10972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66543"/>
            <a:ext cx="11887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27470"/>
                </a:solidFill>
                <a:latin typeface="Aptos"/>
              </a:rPr>
              <a:t>NEW SALE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2011680"/>
            <a:ext cx="1325880" cy="310896"/>
          </a:xfrm>
          <a:prstGeom prst="roundRect">
            <a:avLst/>
          </a:prstGeom>
          <a:solidFill>
            <a:srgbClr val="127470"/>
          </a:solidFill>
          <a:ln w="12700">
            <a:solidFill>
              <a:srgbClr val="12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0" y="2020824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SCAN / 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70048"/>
            <a:ext cx="1051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Customer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2642616"/>
            <a:ext cx="2926080" cy="420624"/>
          </a:xfrm>
          <a:prstGeom prst="roundRect">
            <a:avLst/>
          </a:prstGeom>
          <a:solidFill>
            <a:srgbClr val="FAFAF8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21408" y="2734056"/>
            <a:ext cx="26060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141817"/>
                </a:solidFill>
                <a:latin typeface="Aptos"/>
              </a:rPr>
              <a:t>Moiz Ahmed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310128"/>
            <a:ext cx="1051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Appliance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65960" y="3282696"/>
            <a:ext cx="2926080" cy="420624"/>
          </a:xfrm>
          <a:prstGeom prst="roundRect">
            <a:avLst/>
          </a:prstGeom>
          <a:solidFill>
            <a:srgbClr val="FAFAF8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21408" y="3374136"/>
            <a:ext cx="26060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141817"/>
                </a:solidFill>
                <a:latin typeface="Aptos"/>
              </a:rPr>
              <a:t>Haier HSU-18 • Lounge 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50208"/>
            <a:ext cx="1051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Serial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65960" y="3922776"/>
            <a:ext cx="2926080" cy="420624"/>
          </a:xfrm>
          <a:prstGeom prst="roundRect">
            <a:avLst/>
          </a:prstGeom>
          <a:solidFill>
            <a:srgbClr val="FAFAF8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21408" y="4014216"/>
            <a:ext cx="26060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141817"/>
                </a:solidFill>
                <a:latin typeface="Aptos"/>
              </a:rPr>
              <a:t>HSR-12345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590288"/>
            <a:ext cx="10515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Warranty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65960" y="4562855"/>
            <a:ext cx="2926080" cy="420624"/>
          </a:xfrm>
          <a:prstGeom prst="roundRect">
            <a:avLst/>
          </a:prstGeom>
          <a:solidFill>
            <a:srgbClr val="FAFAF8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21408" y="4654296"/>
            <a:ext cx="26060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141817"/>
                </a:solidFill>
                <a:latin typeface="Aptos"/>
              </a:rPr>
              <a:t>3 Years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2487168"/>
            <a:ext cx="2743200" cy="2606040"/>
          </a:xfrm>
          <a:prstGeom prst="roundRect">
            <a:avLst/>
          </a:prstGeom>
          <a:solidFill>
            <a:srgbClr val="FAFCFA"/>
          </a:solidFill>
          <a:ln w="12700">
            <a:solidFill>
              <a:srgbClr val="12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42432" y="2761488"/>
            <a:ext cx="1417320" cy="310896"/>
          </a:xfrm>
          <a:prstGeom prst="roundRect">
            <a:avLst/>
          </a:prstGeom>
          <a:solidFill>
            <a:srgbClr val="E3F3F0"/>
          </a:solidFill>
          <a:ln w="12700">
            <a:solidFill>
              <a:srgbClr val="E3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42432" y="2770632"/>
            <a:ext cx="14173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127470"/>
                </a:solidFill>
                <a:latin typeface="Aptos"/>
              </a:rPr>
              <a:t>PASSPORT CREATED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42432" y="3273552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41817"/>
                </a:solidFill>
                <a:latin typeface="Aptos"/>
              </a:rPr>
              <a:t>Haier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42432" y="3621024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41817"/>
                </a:solidFill>
                <a:latin typeface="Aptos"/>
              </a:rPr>
              <a:t>Lounge AC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42432" y="4096512"/>
            <a:ext cx="164592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79A6B"/>
                </a:solidFill>
                <a:latin typeface="Aptos"/>
              </a:rPr>
              <a:t>Warranty • Active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42432" y="4443984"/>
            <a:ext cx="173736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36764"/>
                </a:solidFill>
                <a:latin typeface="Aptos"/>
              </a:rPr>
              <a:t>History • 0 records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41080" y="2487168"/>
            <a:ext cx="2468880" cy="2606040"/>
          </a:xfrm>
          <a:prstGeom prst="roundRect">
            <a:avLst/>
          </a:prstGeom>
          <a:solidFill>
            <a:srgbClr val="122629"/>
          </a:solidFill>
          <a:ln w="12700">
            <a:solidFill>
              <a:srgbClr val="122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5400" y="2834640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A1C9C5"/>
                </a:solidFill>
                <a:latin typeface="Aptos"/>
              </a:rPr>
              <a:t>Dealer 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32461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Register the sale.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3895344"/>
            <a:ext cx="1874519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APPLIO carries the record forward.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37960"/>
            <a:ext cx="13716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36764"/>
                </a:solidFill>
                <a:latin typeface="Aptos"/>
              </a:rPr>
              <a:t>APPLIO  •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194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27470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141817"/>
                </a:solidFill>
                <a:latin typeface="Aptos"/>
              </a:rPr>
              <a:t>Customer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332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36764"/>
                </a:solidFill>
                <a:latin typeface="Aptos"/>
              </a:rPr>
              <a:t>The customer gets value without entering a mountain of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10972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84831"/>
            <a:ext cx="3017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41817"/>
                </a:solidFill>
                <a:latin typeface="Aptos"/>
              </a:rPr>
              <a:t>Good morning, Moiz 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41448"/>
            <a:ext cx="5212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36764"/>
                </a:solidFill>
                <a:latin typeface="Aptos"/>
              </a:rPr>
              <a:t>Your home, its appliances and their service history.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852928"/>
            <a:ext cx="2011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852928"/>
            <a:ext cx="54864" cy="960120"/>
          </a:xfrm>
          <a:prstGeom prst="rect">
            <a:avLst/>
          </a:prstGeom>
          <a:solidFill>
            <a:srgbClr val="127470"/>
          </a:solidFill>
          <a:ln w="12700">
            <a:solidFill>
              <a:srgbClr val="12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962656"/>
            <a:ext cx="1737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APPLIANCES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218688"/>
            <a:ext cx="17373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41817"/>
                </a:solidFill>
                <a:latin typeface="Aptos"/>
              </a:rPr>
              <a:t>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27248" y="2852928"/>
            <a:ext cx="2011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27248" y="2852928"/>
            <a:ext cx="54864" cy="960120"/>
          </a:xfrm>
          <a:prstGeom prst="rect">
            <a:avLst/>
          </a:prstGeom>
          <a:solidFill>
            <a:srgbClr val="4567DC"/>
          </a:solidFill>
          <a:ln w="12700">
            <a:solidFill>
              <a:srgbClr val="45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2962656"/>
            <a:ext cx="1737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WARRANTIES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218688"/>
            <a:ext cx="17373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41817"/>
                </a:solidFill>
                <a:latin typeface="Aptos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40096" y="2852928"/>
            <a:ext cx="2011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40096" y="2852928"/>
            <a:ext cx="54864" cy="960120"/>
          </a:xfrm>
          <a:prstGeom prst="rect">
            <a:avLst/>
          </a:prstGeom>
          <a:solidFill>
            <a:srgbClr val="E0A338"/>
          </a:solidFill>
          <a:ln w="12700">
            <a:solidFill>
              <a:srgbClr val="E0A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04688" y="2962656"/>
            <a:ext cx="1737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SERVICES DUE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04688" y="3218688"/>
            <a:ext cx="17373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41817"/>
                </a:solidFill>
                <a:latin typeface="Aptos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52944" y="2852928"/>
            <a:ext cx="21945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52944" y="2852928"/>
            <a:ext cx="54864" cy="960120"/>
          </a:xfrm>
          <a:prstGeom prst="rect">
            <a:avLst/>
          </a:prstGeom>
          <a:solidFill>
            <a:srgbClr val="279A6B"/>
          </a:solidFill>
          <a:ln w="12700">
            <a:solidFill>
              <a:srgbClr val="27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17536" y="2962656"/>
            <a:ext cx="19202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SPENT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7536" y="3218688"/>
            <a:ext cx="19202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41817"/>
                </a:solidFill>
                <a:latin typeface="Aptos"/>
              </a:rPr>
              <a:t>PKR 48.5K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160520"/>
            <a:ext cx="5074920" cy="1325880"/>
          </a:xfrm>
          <a:prstGeom prst="roundRect">
            <a:avLst/>
          </a:prstGeom>
          <a:solidFill>
            <a:srgbClr val="E3F3F0"/>
          </a:solidFill>
          <a:ln w="12700">
            <a:solidFill>
              <a:srgbClr val="E3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4379976"/>
            <a:ext cx="10972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27470"/>
                </a:solidFill>
                <a:latin typeface="Aptos"/>
              </a:rPr>
              <a:t>SERVICE DUE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663440"/>
            <a:ext cx="17373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41817"/>
                </a:solidFill>
                <a:latin typeface="Aptos"/>
              </a:rPr>
              <a:t>Lounge AC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10128" y="4617720"/>
            <a:ext cx="713232" cy="310896"/>
          </a:xfrm>
          <a:prstGeom prst="roundRect">
            <a:avLst/>
          </a:prstGeom>
          <a:solidFill>
            <a:srgbClr val="E0A338"/>
          </a:solidFill>
          <a:ln w="12700">
            <a:solidFill>
              <a:srgbClr val="E0A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10128" y="4626864"/>
            <a:ext cx="7132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636008"/>
            <a:ext cx="1371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27470"/>
                </a:solidFill>
                <a:latin typeface="Aptos"/>
              </a:rPr>
              <a:t>View passport 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6208" y="4160520"/>
            <a:ext cx="4572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4379976"/>
            <a:ext cx="9144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RECENT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8" y="4690872"/>
            <a:ext cx="393192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41817"/>
                </a:solidFill>
                <a:latin typeface="Aptos"/>
              </a:rPr>
              <a:t>✓ Fridge serviced  •  ✓ Warranty added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37960"/>
            <a:ext cx="13716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36764"/>
                </a:solidFill>
                <a:latin typeface="Aptos"/>
              </a:rPr>
              <a:t>APPLIO  •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194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27470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141817"/>
                </a:solidFill>
                <a:latin typeface="Aptos"/>
              </a:rPr>
              <a:t>Signature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332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36764"/>
                </a:solidFill>
                <a:latin typeface="Aptos"/>
              </a:rPr>
              <a:t>A digital service history that stays with the appliance.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6576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41832" y="2103120"/>
            <a:ext cx="1371600" cy="310896"/>
          </a:xfrm>
          <a:prstGeom prst="roundRect">
            <a:avLst/>
          </a:prstGeom>
          <a:solidFill>
            <a:srgbClr val="E3F3F0"/>
          </a:solidFill>
          <a:ln w="12700">
            <a:solidFill>
              <a:srgbClr val="E3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112263"/>
            <a:ext cx="13716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127470"/>
                </a:solidFill>
                <a:latin typeface="Aptos"/>
              </a:rPr>
              <a:t>DIGITAL PASSPORT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587752"/>
            <a:ext cx="10058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636764"/>
                </a:solidFill>
                <a:latin typeface="Aptos"/>
              </a:rPr>
              <a:t>HAIER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07792"/>
            <a:ext cx="192024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141817"/>
                </a:solidFill>
                <a:latin typeface="Aptos"/>
              </a:rPr>
              <a:t>Lounge 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10128"/>
            <a:ext cx="23774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636764"/>
                </a:solidFill>
                <a:latin typeface="Aptos"/>
              </a:rPr>
              <a:t>HSU-18 • HSR-12345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" y="3703320"/>
            <a:ext cx="1371600" cy="310896"/>
          </a:xfrm>
          <a:prstGeom prst="roundRect">
            <a:avLst/>
          </a:prstGeom>
          <a:solidFill>
            <a:srgbClr val="279A6B"/>
          </a:solidFill>
          <a:ln w="12700">
            <a:solidFill>
              <a:srgbClr val="27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712463"/>
            <a:ext cx="13716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WARRANTY ACTIVE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187952"/>
            <a:ext cx="11430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Purchase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4187952"/>
            <a:ext cx="15544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41817"/>
                </a:solidFill>
                <a:latin typeface="Aptos"/>
              </a:rPr>
              <a:t>14 Aug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590288"/>
            <a:ext cx="11430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Service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4590288"/>
            <a:ext cx="15544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41817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4992624"/>
            <a:ext cx="11430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Total spent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4992624"/>
            <a:ext cx="15544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41817"/>
                </a:solidFill>
                <a:latin typeface="Aptos"/>
              </a:rPr>
              <a:t>PKR 18,700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1828800"/>
            <a:ext cx="68122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8" y="2084831"/>
            <a:ext cx="18288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27470"/>
                </a:solidFill>
                <a:latin typeface="Aptos"/>
              </a:rPr>
              <a:t>LIFECYCLE TIMELINE</a:t>
            </a:r>
          </a:p>
        </p:txBody>
      </p:sp>
      <p:sp>
        <p:nvSpPr>
          <p:cNvPr id="22" name="Oval 21"/>
          <p:cNvSpPr/>
          <p:nvPr/>
        </p:nvSpPr>
        <p:spPr>
          <a:xfrm>
            <a:off x="5010912" y="2596896"/>
            <a:ext cx="201168" cy="201168"/>
          </a:xfrm>
          <a:prstGeom prst="ellipse">
            <a:avLst/>
          </a:prstGeom>
          <a:solidFill>
            <a:srgbClr val="12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111496" y="2798063"/>
            <a:ext cx="0" cy="347473"/>
          </a:xfrm>
          <a:prstGeom prst="line">
            <a:avLst/>
          </a:prstGeom>
          <a:ln w="19050">
            <a:solidFill>
              <a:srgbClr val="127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376672" y="2578608"/>
            <a:ext cx="13258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14 AUG 2024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578608"/>
            <a:ext cx="2926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41817"/>
                </a:solidFill>
                <a:latin typeface="Aptos"/>
              </a:rPr>
              <a:t>Purchased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2578608"/>
            <a:ext cx="12344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636764"/>
                </a:solidFill>
                <a:latin typeface="Aptos"/>
              </a:rPr>
              <a:t>PKR 145,000</a:t>
            </a:r>
          </a:p>
        </p:txBody>
      </p:sp>
      <p:sp>
        <p:nvSpPr>
          <p:cNvPr id="27" name="Oval 26"/>
          <p:cNvSpPr/>
          <p:nvPr/>
        </p:nvSpPr>
        <p:spPr>
          <a:xfrm>
            <a:off x="5010912" y="3209544"/>
            <a:ext cx="201168" cy="201168"/>
          </a:xfrm>
          <a:prstGeom prst="ellipse">
            <a:avLst/>
          </a:prstGeom>
          <a:solidFill>
            <a:srgbClr val="12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5111496" y="3410711"/>
            <a:ext cx="0" cy="347472"/>
          </a:xfrm>
          <a:prstGeom prst="line">
            <a:avLst/>
          </a:prstGeom>
          <a:ln w="19050">
            <a:solidFill>
              <a:srgbClr val="127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376672" y="3191256"/>
            <a:ext cx="13258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12 MAR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191256"/>
            <a:ext cx="2926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41817"/>
                </a:solidFill>
                <a:latin typeface="Aptos"/>
              </a:rPr>
              <a:t>Routine 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3191256"/>
            <a:ext cx="12344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636764"/>
                </a:solidFill>
                <a:latin typeface="Aptos"/>
              </a:rPr>
              <a:t>PKR 2,500</a:t>
            </a:r>
          </a:p>
        </p:txBody>
      </p:sp>
      <p:sp>
        <p:nvSpPr>
          <p:cNvPr id="32" name="Oval 31"/>
          <p:cNvSpPr/>
          <p:nvPr/>
        </p:nvSpPr>
        <p:spPr>
          <a:xfrm>
            <a:off x="5010912" y="3822191"/>
            <a:ext cx="201168" cy="201168"/>
          </a:xfrm>
          <a:prstGeom prst="ellipse">
            <a:avLst/>
          </a:prstGeom>
          <a:solidFill>
            <a:srgbClr val="12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5111496" y="4023360"/>
            <a:ext cx="0" cy="347472"/>
          </a:xfrm>
          <a:prstGeom prst="line">
            <a:avLst/>
          </a:prstGeom>
          <a:ln w="19050">
            <a:solidFill>
              <a:srgbClr val="127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376672" y="3803904"/>
            <a:ext cx="13258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22 AUG 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803904"/>
            <a:ext cx="2926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41817"/>
                </a:solidFill>
                <a:latin typeface="Aptos"/>
              </a:rPr>
              <a:t>Gas leakage repair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3803904"/>
            <a:ext cx="12344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636764"/>
                </a:solidFill>
                <a:latin typeface="Aptos"/>
              </a:rPr>
              <a:t>PKR 6,500</a:t>
            </a:r>
          </a:p>
        </p:txBody>
      </p:sp>
      <p:sp>
        <p:nvSpPr>
          <p:cNvPr id="37" name="Oval 36"/>
          <p:cNvSpPr/>
          <p:nvPr/>
        </p:nvSpPr>
        <p:spPr>
          <a:xfrm>
            <a:off x="5010912" y="4434840"/>
            <a:ext cx="201168" cy="201168"/>
          </a:xfrm>
          <a:prstGeom prst="ellipse">
            <a:avLst/>
          </a:prstGeom>
          <a:solidFill>
            <a:srgbClr val="12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5111496" y="4636008"/>
            <a:ext cx="0" cy="347472"/>
          </a:xfrm>
          <a:prstGeom prst="line">
            <a:avLst/>
          </a:prstGeom>
          <a:ln w="19050">
            <a:solidFill>
              <a:srgbClr val="127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376672" y="4416552"/>
            <a:ext cx="13258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10 FEB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416552"/>
            <a:ext cx="2926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41817"/>
                </a:solidFill>
                <a:latin typeface="Aptos"/>
              </a:rPr>
              <a:t>Capacitor replaced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38360" y="4416552"/>
            <a:ext cx="12344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636764"/>
                </a:solidFill>
                <a:latin typeface="Aptos"/>
              </a:rPr>
              <a:t>PKR 4,200</a:t>
            </a:r>
          </a:p>
        </p:txBody>
      </p:sp>
      <p:sp>
        <p:nvSpPr>
          <p:cNvPr id="42" name="Oval 41"/>
          <p:cNvSpPr/>
          <p:nvPr/>
        </p:nvSpPr>
        <p:spPr>
          <a:xfrm>
            <a:off x="5010912" y="5047488"/>
            <a:ext cx="201168" cy="201168"/>
          </a:xfrm>
          <a:prstGeom prst="ellipse">
            <a:avLst/>
          </a:prstGeom>
          <a:solidFill>
            <a:srgbClr val="E0A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5029200"/>
            <a:ext cx="13258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12 SEP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5029200"/>
            <a:ext cx="2926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41817"/>
                </a:solidFill>
                <a:latin typeface="Aptos"/>
              </a:rPr>
              <a:t>Next service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60" y="5029200"/>
            <a:ext cx="12344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127470"/>
                </a:solidFill>
                <a:latin typeface="Aptos"/>
              </a:rPr>
              <a:t>UPCOMING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537960"/>
            <a:ext cx="13716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36764"/>
                </a:solidFill>
                <a:latin typeface="Aptos"/>
              </a:rPr>
              <a:t>APPLIO  •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194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27470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141817"/>
                </a:solidFill>
                <a:latin typeface="Aptos"/>
              </a:rPr>
              <a:t>Service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332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36764"/>
                </a:solidFill>
                <a:latin typeface="Aptos"/>
              </a:rPr>
              <a:t>The booking is only one step. The history is the product.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1737360" cy="310896"/>
          </a:xfrm>
          <a:prstGeom prst="roundRect">
            <a:avLst/>
          </a:prstGeom>
          <a:solidFill>
            <a:srgbClr val="127470"/>
          </a:solidFill>
          <a:ln w="12700">
            <a:solidFill>
              <a:srgbClr val="12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66543"/>
            <a:ext cx="17373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SERVICE DUE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41448" y="2212848"/>
            <a:ext cx="420624" cy="0"/>
          </a:xfrm>
          <a:prstGeom prst="line">
            <a:avLst/>
          </a:prstGeom>
          <a:ln w="25400">
            <a:solidFill>
              <a:srgbClr val="127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26080" y="2057400"/>
            <a:ext cx="1737360" cy="310896"/>
          </a:xfrm>
          <a:prstGeom prst="roundRect">
            <a:avLst/>
          </a:prstGeom>
          <a:solidFill>
            <a:srgbClr val="122629"/>
          </a:solidFill>
          <a:ln w="12700">
            <a:solidFill>
              <a:srgbClr val="122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2066543"/>
            <a:ext cx="17373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FIND TECHNICIAN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681728" y="2212848"/>
            <a:ext cx="420624" cy="0"/>
          </a:xfrm>
          <a:prstGeom prst="line">
            <a:avLst/>
          </a:prstGeom>
          <a:ln w="25400">
            <a:solidFill>
              <a:srgbClr val="127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66360" y="2057400"/>
            <a:ext cx="1737360" cy="310896"/>
          </a:xfrm>
          <a:prstGeom prst="roundRect">
            <a:avLst/>
          </a:prstGeom>
          <a:solidFill>
            <a:srgbClr val="122629"/>
          </a:solidFill>
          <a:ln w="12700">
            <a:solidFill>
              <a:srgbClr val="122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066543"/>
            <a:ext cx="17373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BOOK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22008" y="2212848"/>
            <a:ext cx="420624" cy="0"/>
          </a:xfrm>
          <a:prstGeom prst="line">
            <a:avLst/>
          </a:prstGeom>
          <a:ln w="25400">
            <a:solidFill>
              <a:srgbClr val="127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06640" y="2057400"/>
            <a:ext cx="1737360" cy="310896"/>
          </a:xfrm>
          <a:prstGeom prst="roundRect">
            <a:avLst/>
          </a:prstGeom>
          <a:solidFill>
            <a:srgbClr val="122629"/>
          </a:solidFill>
          <a:ln w="12700">
            <a:solidFill>
              <a:srgbClr val="122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066543"/>
            <a:ext cx="17373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SERVICE COMPLETE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62288" y="2212848"/>
            <a:ext cx="420624" cy="0"/>
          </a:xfrm>
          <a:prstGeom prst="line">
            <a:avLst/>
          </a:prstGeom>
          <a:ln w="25400">
            <a:solidFill>
              <a:srgbClr val="127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646920" y="2057400"/>
            <a:ext cx="1737360" cy="310896"/>
          </a:xfrm>
          <a:prstGeom prst="roundRect">
            <a:avLst/>
          </a:prstGeom>
          <a:solidFill>
            <a:srgbClr val="127470"/>
          </a:solidFill>
          <a:ln w="12700">
            <a:solidFill>
              <a:srgbClr val="12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2066543"/>
            <a:ext cx="17373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UPDATE PASSPORT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88036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154680"/>
            <a:ext cx="24688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27470"/>
                </a:solidFill>
                <a:latin typeface="Aptos"/>
              </a:rPr>
              <a:t>TECHNICIAN SEES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566160"/>
            <a:ext cx="1371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Previous issue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3566160"/>
            <a:ext cx="1554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41817"/>
                </a:solidFill>
                <a:latin typeface="Aptos"/>
              </a:rPr>
              <a:t>Gas leakage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3977639"/>
            <a:ext cx="1371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Total repairs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3977639"/>
            <a:ext cx="1554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41817"/>
                </a:solidFill>
                <a:latin typeface="Apto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389120"/>
            <a:ext cx="1371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Total spent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389120"/>
            <a:ext cx="1554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41817"/>
                </a:solidFill>
                <a:latin typeface="Aptos"/>
              </a:rPr>
              <a:t>PKR 18,700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16552" y="288036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3154680"/>
            <a:ext cx="2011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4567DC"/>
                </a:solidFill>
                <a:latin typeface="Aptos"/>
              </a:rPr>
              <a:t>SERVICE 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3566160"/>
            <a:ext cx="10972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Diagnosis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3566160"/>
            <a:ext cx="16459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41817"/>
                </a:solidFill>
                <a:latin typeface="Aptos"/>
              </a:rPr>
              <a:t>Gas leakage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3977639"/>
            <a:ext cx="10972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Parts + labor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23560" y="3977639"/>
            <a:ext cx="16459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41817"/>
                </a:solidFill>
                <a:latin typeface="Aptos"/>
              </a:rPr>
              <a:t>PKR 4,500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4389120"/>
            <a:ext cx="24688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27470"/>
                </a:solidFill>
                <a:latin typeface="Aptos"/>
              </a:rPr>
              <a:t>Customer approves quote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47304" y="2880360"/>
            <a:ext cx="3337560" cy="1965960"/>
          </a:xfrm>
          <a:prstGeom prst="roundRect">
            <a:avLst/>
          </a:prstGeom>
          <a:solidFill>
            <a:srgbClr val="E3F3F0"/>
          </a:solidFill>
          <a:ln w="12700">
            <a:solidFill>
              <a:srgbClr val="E3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94192" y="3154680"/>
            <a:ext cx="16459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27470"/>
                </a:solidFill>
                <a:latin typeface="Aptos"/>
              </a:rPr>
              <a:t>AUTO UPDATE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4192" y="3575304"/>
            <a:ext cx="16459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27470"/>
                </a:solidFill>
                <a:latin typeface="Aptos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50224" y="3566160"/>
            <a:ext cx="402336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141817"/>
                </a:solidFill>
                <a:latin typeface="Aptos"/>
              </a:rPr>
              <a:t>Service history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4192" y="3959352"/>
            <a:ext cx="16459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27470"/>
                </a:solidFill>
                <a:latin typeface="Aptos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50224" y="3950208"/>
            <a:ext cx="402336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141817"/>
                </a:solidFill>
                <a:latin typeface="Aptos"/>
              </a:rPr>
              <a:t>Maintenance spend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94192" y="4343400"/>
            <a:ext cx="16459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27470"/>
                </a:solidFill>
                <a:latin typeface="Aptos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50224" y="4334256"/>
            <a:ext cx="402336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141817"/>
                </a:solidFill>
                <a:latin typeface="Aptos"/>
              </a:rPr>
              <a:t>Next reminder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537960"/>
            <a:ext cx="13716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36764"/>
                </a:solidFill>
                <a:latin typeface="Aptos"/>
              </a:rPr>
              <a:t>APPLIO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194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27470"/>
                </a:solidFill>
                <a:latin typeface="Apto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141817"/>
                </a:solidFill>
                <a:latin typeface="Aptos"/>
              </a:rPr>
              <a:t>Why a technician 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332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36764"/>
                </a:solidFill>
                <a:latin typeface="Aptos"/>
              </a:rPr>
              <a:t>APPLIO is not asking technicians to “use another app” for nothing.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3832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194560"/>
            <a:ext cx="13716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636764"/>
                </a:solidFill>
                <a:latin typeface="Aptos"/>
              </a:rPr>
              <a:t>TECHNICIAN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578608"/>
            <a:ext cx="21031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141817"/>
                </a:solidFill>
                <a:latin typeface="Aptos"/>
              </a:rPr>
              <a:t>Ali AC Services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2999232"/>
            <a:ext cx="749808" cy="310896"/>
          </a:xfrm>
          <a:prstGeom prst="roundRect">
            <a:avLst/>
          </a:prstGeom>
          <a:solidFill>
            <a:srgbClr val="279A6B"/>
          </a:solidFill>
          <a:ln w="12700">
            <a:solidFill>
              <a:srgbClr val="27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3008375"/>
            <a:ext cx="749808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438144"/>
            <a:ext cx="2286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41817"/>
                </a:solidFill>
                <a:latin typeface="Aptos"/>
              </a:rPr>
              <a:t>4.8 ★  •  286 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931920"/>
            <a:ext cx="2560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27470"/>
                </a:solidFill>
                <a:latin typeface="Aptos"/>
              </a:rPr>
              <a:t>Earns from completed jobs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343400"/>
            <a:ext cx="26517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141817"/>
                </a:solidFill>
                <a:latin typeface="Aptos"/>
              </a:rPr>
              <a:t>Gets appliance context before visit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" y="4910328"/>
            <a:ext cx="960120" cy="310896"/>
          </a:xfrm>
          <a:prstGeom prst="roundRect">
            <a:avLst/>
          </a:prstGeom>
          <a:solidFill>
            <a:srgbClr val="127470"/>
          </a:solidFill>
          <a:ln w="12700">
            <a:solidFill>
              <a:srgbClr val="12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4919472"/>
            <a:ext cx="960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JOB INBOX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8" y="1874519"/>
            <a:ext cx="7040880" cy="3657600"/>
          </a:xfrm>
          <a:prstGeom prst="roundRect">
            <a:avLst/>
          </a:prstGeom>
          <a:solidFill>
            <a:srgbClr val="122629"/>
          </a:solidFill>
          <a:ln w="12700">
            <a:solidFill>
              <a:srgbClr val="122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2194560"/>
            <a:ext cx="11887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A6CBC7"/>
                </a:solidFill>
                <a:latin typeface="Aptos"/>
              </a:rPr>
              <a:t>SERVICE JOB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2633472"/>
            <a:ext cx="27432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Haier • Lounge AC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3090672"/>
            <a:ext cx="18288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Cooling problem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3493008"/>
            <a:ext cx="12801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A6CBC7"/>
                </a:solidFill>
                <a:latin typeface="Aptos"/>
              </a:rPr>
              <a:t>History visible: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3493008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2 repairs • PKR 18,700 spent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6592" y="3977639"/>
            <a:ext cx="10058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A6CBC7"/>
                </a:solidFill>
                <a:latin typeface="Aptos"/>
              </a:rPr>
              <a:t>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61888" y="3977639"/>
            <a:ext cx="3840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Service completed → passport updated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20" y="4736592"/>
            <a:ext cx="749808" cy="310896"/>
          </a:xfrm>
          <a:prstGeom prst="roundRect">
            <a:avLst/>
          </a:prstGeom>
          <a:solidFill>
            <a:srgbClr val="E0A338"/>
          </a:solidFill>
          <a:ln w="12700">
            <a:solidFill>
              <a:srgbClr val="E0A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4745736"/>
            <a:ext cx="749808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122629"/>
                </a:solidFill>
                <a:latin typeface="Aptos"/>
              </a:rPr>
              <a:t>EARN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37960"/>
            <a:ext cx="13716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36764"/>
                </a:solidFill>
                <a:latin typeface="Aptos"/>
              </a:rPr>
              <a:t>APPLIO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194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27470"/>
                </a:solidFill>
                <a:latin typeface="Apto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141817"/>
                </a:solidFill>
                <a:latin typeface="Aptos"/>
              </a:rPr>
              <a:t>Why a brand / distributor pays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332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36764"/>
                </a:solidFill>
                <a:latin typeface="Aptos"/>
              </a:rPr>
              <a:t>The real buyer gets operational value from the lifecycle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09728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148840"/>
            <a:ext cx="2148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148840"/>
            <a:ext cx="54864" cy="960120"/>
          </a:xfrm>
          <a:prstGeom prst="rect">
            <a:avLst/>
          </a:prstGeom>
          <a:solidFill>
            <a:srgbClr val="127470"/>
          </a:solidFill>
          <a:ln w="12700">
            <a:solidFill>
              <a:srgbClr val="12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258568"/>
            <a:ext cx="187452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REGISTERED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514600"/>
            <a:ext cx="18745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41817"/>
                </a:solidFill>
                <a:latin typeface="Aptos"/>
              </a:rPr>
              <a:t>2,981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2148840"/>
            <a:ext cx="2148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2148840"/>
            <a:ext cx="54864" cy="960120"/>
          </a:xfrm>
          <a:prstGeom prst="rect">
            <a:avLst/>
          </a:prstGeom>
          <a:solidFill>
            <a:srgbClr val="4567DC"/>
          </a:solidFill>
          <a:ln w="12700">
            <a:solidFill>
              <a:srgbClr val="45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2" y="2258568"/>
            <a:ext cx="187452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ACTIVE WARRANTIES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2514600"/>
            <a:ext cx="18745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41817"/>
                </a:solidFill>
                <a:latin typeface="Aptos"/>
              </a:rPr>
              <a:t>817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2148840"/>
            <a:ext cx="2148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77840" y="2148840"/>
            <a:ext cx="54864" cy="960120"/>
          </a:xfrm>
          <a:prstGeom prst="rect">
            <a:avLst/>
          </a:prstGeom>
          <a:solidFill>
            <a:srgbClr val="E0A338"/>
          </a:solidFill>
          <a:ln w="12700">
            <a:solidFill>
              <a:srgbClr val="E0A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42431" y="2258568"/>
            <a:ext cx="187452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PENDING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42431" y="2514600"/>
            <a:ext cx="18745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41817"/>
                </a:solidFill>
                <a:latin typeface="Aptos"/>
              </a:rPr>
              <a:t>32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2148840"/>
            <a:ext cx="2148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09560" y="2148840"/>
            <a:ext cx="54864" cy="960120"/>
          </a:xfrm>
          <a:prstGeom prst="rect">
            <a:avLst/>
          </a:prstGeom>
          <a:solidFill>
            <a:srgbClr val="279A6B"/>
          </a:solidFill>
          <a:ln w="12700">
            <a:solidFill>
              <a:srgbClr val="27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258568"/>
            <a:ext cx="187452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SERVICE 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2514600"/>
            <a:ext cx="18745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41817"/>
                </a:solidFill>
                <a:latin typeface="Aptos"/>
              </a:rPr>
              <a:t>7,430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3456432"/>
            <a:ext cx="4709160" cy="1810512"/>
          </a:xfrm>
          <a:prstGeom prst="roundRect">
            <a:avLst/>
          </a:prstGeom>
          <a:solidFill>
            <a:srgbClr val="F9FAF9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3675887"/>
            <a:ext cx="1554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27470"/>
                </a:solidFill>
                <a:latin typeface="Aptos"/>
              </a:rPr>
              <a:t>AFTER-SALES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4023360"/>
            <a:ext cx="9144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Sale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65960" y="4041648"/>
            <a:ext cx="2651760" cy="109728"/>
          </a:xfrm>
          <a:prstGeom prst="rect">
            <a:avLst/>
          </a:prstGeom>
          <a:solidFill>
            <a:srgbClr val="E8EAE7"/>
          </a:solidFill>
          <a:ln w="12700">
            <a:solidFill>
              <a:srgbClr val="E8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65960" y="4041648"/>
            <a:ext cx="2651760" cy="109728"/>
          </a:xfrm>
          <a:prstGeom prst="rect">
            <a:avLst/>
          </a:prstGeom>
          <a:solidFill>
            <a:srgbClr val="127470"/>
          </a:solidFill>
          <a:ln w="12700">
            <a:solidFill>
              <a:srgbClr val="12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4315968"/>
            <a:ext cx="9144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Warranty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65960" y="4334256"/>
            <a:ext cx="2651760" cy="109728"/>
          </a:xfrm>
          <a:prstGeom prst="rect">
            <a:avLst/>
          </a:prstGeom>
          <a:solidFill>
            <a:srgbClr val="E8EAE7"/>
          </a:solidFill>
          <a:ln w="12700">
            <a:solidFill>
              <a:srgbClr val="E8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965960" y="4334256"/>
            <a:ext cx="2280513" cy="109728"/>
          </a:xfrm>
          <a:prstGeom prst="rect">
            <a:avLst/>
          </a:prstGeom>
          <a:solidFill>
            <a:srgbClr val="4567DC"/>
          </a:solidFill>
          <a:ln w="12700">
            <a:solidFill>
              <a:srgbClr val="45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568" y="4608576"/>
            <a:ext cx="9144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Service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65960" y="4626864"/>
            <a:ext cx="2651760" cy="109728"/>
          </a:xfrm>
          <a:prstGeom prst="rect">
            <a:avLst/>
          </a:prstGeom>
          <a:solidFill>
            <a:srgbClr val="E8EAE7"/>
          </a:solidFill>
          <a:ln w="12700">
            <a:solidFill>
              <a:srgbClr val="E8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65960" y="4626864"/>
            <a:ext cx="1697126" cy="109728"/>
          </a:xfrm>
          <a:prstGeom prst="rect">
            <a:avLst/>
          </a:prstGeom>
          <a:solidFill>
            <a:srgbClr val="279A6B"/>
          </a:solidFill>
          <a:ln w="12700">
            <a:solidFill>
              <a:srgbClr val="27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5568" y="4901184"/>
            <a:ext cx="9144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636764"/>
                </a:solidFill>
                <a:latin typeface="Aptos"/>
              </a:rPr>
              <a:t>Repeat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65960" y="4919472"/>
            <a:ext cx="2651760" cy="109728"/>
          </a:xfrm>
          <a:prstGeom prst="rect">
            <a:avLst/>
          </a:prstGeom>
          <a:solidFill>
            <a:srgbClr val="E8EAE7"/>
          </a:solidFill>
          <a:ln w="12700">
            <a:solidFill>
              <a:srgbClr val="E8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65960" y="4919472"/>
            <a:ext cx="1007668" cy="109728"/>
          </a:xfrm>
          <a:prstGeom prst="rect">
            <a:avLst/>
          </a:prstGeom>
          <a:solidFill>
            <a:srgbClr val="E0A338"/>
          </a:solidFill>
          <a:ln w="12700">
            <a:solidFill>
              <a:srgbClr val="E0A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943600" y="3456432"/>
            <a:ext cx="4709160" cy="1810512"/>
          </a:xfrm>
          <a:prstGeom prst="roundRect">
            <a:avLst/>
          </a:prstGeom>
          <a:solidFill>
            <a:srgbClr val="122629"/>
          </a:solidFill>
          <a:ln w="12700">
            <a:solidFill>
              <a:srgbClr val="122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99632" y="3675887"/>
            <a:ext cx="2286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A8CDC9"/>
                </a:solidFill>
                <a:latin typeface="Aptos"/>
              </a:rPr>
              <a:t>WHAT THE BRAND CAN SEE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9632" y="4059936"/>
            <a:ext cx="16459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74C4B8"/>
                </a:solidFill>
                <a:latin typeface="Aptos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55664" y="4050792"/>
            <a:ext cx="402336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141817"/>
                </a:solidFill>
                <a:latin typeface="Aptos"/>
              </a:rPr>
              <a:t>Which sales are registered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9632" y="4370832"/>
            <a:ext cx="16459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74C4B8"/>
                </a:solidFill>
                <a:latin typeface="Aptos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55664" y="4361688"/>
            <a:ext cx="402336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141817"/>
                </a:solidFill>
                <a:latin typeface="Aptos"/>
              </a:rPr>
              <a:t>Which warranties expire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9632" y="4681728"/>
            <a:ext cx="16459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74C4B8"/>
                </a:solidFill>
                <a:latin typeface="Aptos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55664" y="4672584"/>
            <a:ext cx="402336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141817"/>
                </a:solidFill>
                <a:latin typeface="Aptos"/>
              </a:rPr>
              <a:t>Which appliances return for service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9632" y="4992624"/>
            <a:ext cx="16459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74C4B8"/>
                </a:solidFill>
                <a:latin typeface="Aptos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55664" y="4983480"/>
            <a:ext cx="402336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141817"/>
                </a:solidFill>
                <a:latin typeface="Aptos"/>
              </a:rPr>
              <a:t>Where service demand is coming from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537960"/>
            <a:ext cx="13716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36764"/>
                </a:solidFill>
                <a:latin typeface="Aptos"/>
              </a:rPr>
              <a:t>APPLIO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194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27470"/>
                </a:solidFill>
                <a:latin typeface="Apto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141817"/>
                </a:solidFill>
                <a:latin typeface="Aptos"/>
              </a:rPr>
              <a:t>Where APPLIO sits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332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36764"/>
                </a:solidFill>
                <a:latin typeface="Aptos"/>
              </a:rPr>
              <a:t>We are not replacing the dealer’s POS or ERP.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29718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2377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636764"/>
                </a:solidFill>
                <a:latin typeface="Aptos"/>
              </a:rPr>
              <a:t>EXISTING BUSINESS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16352"/>
            <a:ext cx="22860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141817"/>
                </a:solidFill>
                <a:latin typeface="Aptos"/>
              </a:rPr>
              <a:t>POS / ERP / Inventory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264408"/>
            <a:ext cx="2286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36764"/>
                </a:solidFill>
                <a:latin typeface="Aptos"/>
              </a:rPr>
              <a:t>Billing • stock • accounting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3895344"/>
            <a:ext cx="1234440" cy="310896"/>
          </a:xfrm>
          <a:prstGeom prst="roundRect">
            <a:avLst/>
          </a:prstGeom>
          <a:solidFill>
            <a:srgbClr val="E3F3F0"/>
          </a:solidFill>
          <a:ln w="12700">
            <a:solidFill>
              <a:srgbClr val="E3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904487"/>
            <a:ext cx="12344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127470"/>
                </a:solidFill>
                <a:latin typeface="Aptos"/>
              </a:rPr>
              <a:t>KEEP USING 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31920" y="3657600"/>
            <a:ext cx="777240" cy="0"/>
          </a:xfrm>
          <a:prstGeom prst="line">
            <a:avLst/>
          </a:prstGeom>
          <a:ln w="25400">
            <a:solidFill>
              <a:srgbClr val="127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800600" y="1600200"/>
            <a:ext cx="3246120" cy="4206240"/>
          </a:xfrm>
          <a:prstGeom prst="roundRect">
            <a:avLst/>
          </a:prstGeom>
          <a:solidFill>
            <a:srgbClr val="122629"/>
          </a:solidFill>
          <a:ln w="12700">
            <a:solidFill>
              <a:srgbClr val="122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1993392"/>
            <a:ext cx="20116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APPLIO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724912"/>
            <a:ext cx="25603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91D3CA"/>
                </a:solidFill>
                <a:latin typeface="Aptos"/>
              </a:rPr>
              <a:t>Customer-facing
after-sales layer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3749039"/>
            <a:ext cx="2331720" cy="310896"/>
          </a:xfrm>
          <a:prstGeom prst="roundRect">
            <a:avLst/>
          </a:prstGeom>
          <a:solidFill>
            <a:srgbClr val="127470"/>
          </a:solidFill>
          <a:ln w="12700">
            <a:solidFill>
              <a:srgbClr val="12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3758183"/>
            <a:ext cx="23317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Digital passport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7800" y="4133087"/>
            <a:ext cx="2331720" cy="310896"/>
          </a:xfrm>
          <a:prstGeom prst="roundRect">
            <a:avLst/>
          </a:prstGeom>
          <a:solidFill>
            <a:srgbClr val="127470"/>
          </a:solidFill>
          <a:ln w="12700">
            <a:solidFill>
              <a:srgbClr val="12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4142231"/>
            <a:ext cx="23317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Warranty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57800" y="4517136"/>
            <a:ext cx="2331720" cy="310896"/>
          </a:xfrm>
          <a:prstGeom prst="roundRect">
            <a:avLst/>
          </a:prstGeom>
          <a:solidFill>
            <a:srgbClr val="127470"/>
          </a:solidFill>
          <a:ln w="12700">
            <a:solidFill>
              <a:srgbClr val="12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7800" y="4526279"/>
            <a:ext cx="23317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Service history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57800" y="4901183"/>
            <a:ext cx="2331720" cy="310896"/>
          </a:xfrm>
          <a:prstGeom prst="roundRect">
            <a:avLst/>
          </a:prstGeom>
          <a:solidFill>
            <a:srgbClr val="127470"/>
          </a:solidFill>
          <a:ln w="12700">
            <a:solidFill>
              <a:srgbClr val="12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4910327"/>
            <a:ext cx="23317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Customer lifecycle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38160" y="3657600"/>
            <a:ext cx="731520" cy="0"/>
          </a:xfrm>
          <a:prstGeom prst="line">
            <a:avLst/>
          </a:prstGeom>
          <a:ln w="25400">
            <a:solidFill>
              <a:srgbClr val="127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06840" y="1965960"/>
            <a:ext cx="23317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3728" y="2304288"/>
            <a:ext cx="1554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636764"/>
                </a:solidFill>
                <a:latin typeface="Aptos"/>
              </a:rPr>
              <a:t>CUSTOMER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2816352"/>
            <a:ext cx="164592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141817"/>
                </a:solidFill>
                <a:latin typeface="Aptos"/>
              </a:rPr>
              <a:t>One place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3264408"/>
            <a:ext cx="1737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36764"/>
                </a:solidFill>
                <a:latin typeface="Aptos"/>
              </a:rPr>
              <a:t>for appliance life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53728" y="3913632"/>
            <a:ext cx="685800" cy="310896"/>
          </a:xfrm>
          <a:prstGeom prst="roundRect">
            <a:avLst/>
          </a:prstGeom>
          <a:solidFill>
            <a:srgbClr val="279A6B"/>
          </a:solidFill>
          <a:ln w="12700">
            <a:solidFill>
              <a:srgbClr val="27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53728" y="3922776"/>
            <a:ext cx="685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FREE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37960"/>
            <a:ext cx="13716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36764"/>
                </a:solidFill>
                <a:latin typeface="Aptos"/>
              </a:rPr>
              <a:t>APPLIO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194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27470"/>
                </a:solidFill>
                <a:latin typeface="Apto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141817"/>
                </a:solidFill>
                <a:latin typeface="Aptos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332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36764"/>
                </a:solidFill>
                <a:latin typeface="Aptos"/>
              </a:rPr>
              <a:t>Start with the side that benefits from the data and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333756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6968" y="2176272"/>
            <a:ext cx="1234440" cy="310896"/>
          </a:xfrm>
          <a:prstGeom prst="roundRect">
            <a:avLst/>
          </a:prstGeom>
          <a:solidFill>
            <a:srgbClr val="127470"/>
          </a:solidFill>
          <a:ln w="12700">
            <a:solidFill>
              <a:srgbClr val="12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185415"/>
            <a:ext cx="12344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01 • PRIMARY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697480"/>
            <a:ext cx="26517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41817"/>
                </a:solidFill>
                <a:latin typeface="Aptos"/>
              </a:rPr>
              <a:t>Brand / distributor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73552"/>
            <a:ext cx="27432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36764"/>
                </a:solidFill>
                <a:latin typeface="Aptos"/>
              </a:rPr>
              <a:t>Subscription for after-sales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0">
                <a:solidFill>
                  <a:srgbClr val="141817"/>
                </a:solidFill>
                <a:latin typeface="Aptos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" y="4617720"/>
            <a:ext cx="2057400" cy="310896"/>
          </a:xfrm>
          <a:prstGeom prst="roundRect">
            <a:avLst/>
          </a:prstGeom>
          <a:solidFill>
            <a:srgbClr val="127470"/>
          </a:solidFill>
          <a:ln w="12700">
            <a:solidFill>
              <a:srgbClr val="12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4626864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B2B SaaS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6552" y="1920240"/>
            <a:ext cx="333756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A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17720" y="2176272"/>
            <a:ext cx="1234440" cy="310896"/>
          </a:xfrm>
          <a:prstGeom prst="roundRect">
            <a:avLst/>
          </a:prstGeom>
          <a:solidFill>
            <a:srgbClr val="E0A338"/>
          </a:solidFill>
          <a:ln w="12700">
            <a:solidFill>
              <a:srgbClr val="E0A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185415"/>
            <a:ext cx="12344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02 • LATER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697480"/>
            <a:ext cx="26517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41817"/>
                </a:solidFill>
                <a:latin typeface="Aptos"/>
              </a:rPr>
              <a:t>Service transaction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273552"/>
            <a:ext cx="27432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36764"/>
                </a:solidFill>
                <a:latin typeface="Aptos"/>
              </a:rPr>
              <a:t>Commission from completed service jobs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0">
                <a:solidFill>
                  <a:srgbClr val="141817"/>
                </a:solidFill>
                <a:latin typeface="Aptos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4617720"/>
            <a:ext cx="2057400" cy="310896"/>
          </a:xfrm>
          <a:prstGeom prst="roundRect">
            <a:avLst/>
          </a:prstGeom>
          <a:solidFill>
            <a:srgbClr val="E0A338"/>
          </a:solidFill>
          <a:ln w="12700">
            <a:solidFill>
              <a:srgbClr val="E0A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4626864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JOB COMMISSION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47304" y="1920240"/>
            <a:ext cx="333756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5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48472" y="2176272"/>
            <a:ext cx="1234440" cy="310896"/>
          </a:xfrm>
          <a:prstGeom prst="roundRect">
            <a:avLst/>
          </a:prstGeom>
          <a:solidFill>
            <a:srgbClr val="4567DC"/>
          </a:solidFill>
          <a:ln w="12700">
            <a:solidFill>
              <a:srgbClr val="45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8472" y="2185415"/>
            <a:ext cx="12344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03 • LATER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2" y="2697480"/>
            <a:ext cx="26517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41817"/>
                </a:solidFill>
                <a:latin typeface="Aptos"/>
              </a:rPr>
              <a:t>Brand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3273552"/>
            <a:ext cx="27432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36764"/>
                </a:solidFill>
                <a:latin typeface="Aptos"/>
              </a:rPr>
              <a:t>Reports, integrations, multi-branch tools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0">
                <a:solidFill>
                  <a:srgbClr val="141817"/>
                </a:solidFill>
                <a:latin typeface="Aptos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48472" y="4617720"/>
            <a:ext cx="2057400" cy="310896"/>
          </a:xfrm>
          <a:prstGeom prst="roundRect">
            <a:avLst/>
          </a:prstGeom>
          <a:solidFill>
            <a:srgbClr val="4567DC"/>
          </a:solidFill>
          <a:ln w="12700">
            <a:solidFill>
              <a:srgbClr val="45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8472" y="4626864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PAID ADD-ONS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669280"/>
            <a:ext cx="10927080" cy="475488"/>
          </a:xfrm>
          <a:prstGeom prst="roundRect">
            <a:avLst/>
          </a:prstGeom>
          <a:solidFill>
            <a:srgbClr val="122629"/>
          </a:solidFill>
          <a:ln w="12700">
            <a:solidFill>
              <a:srgbClr val="122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769864"/>
            <a:ext cx="104698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Customer stays free because distribution begins at the point of sale.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37960"/>
            <a:ext cx="13716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36764"/>
                </a:solidFill>
                <a:latin typeface="Aptos"/>
              </a:rPr>
              <a:t>APPLIO  •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194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27470"/>
                </a:solidFill>
                <a:latin typeface="Apto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141817"/>
                </a:solidFill>
                <a:latin typeface="Aptos"/>
              </a:rPr>
              <a:t>Student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332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36764"/>
                </a:solidFill>
                <a:latin typeface="Aptos"/>
              </a:rPr>
              <a:t>Build the proof, not the entire company.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31012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39696"/>
            <a:ext cx="2194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27470"/>
                </a:solidFill>
                <a:latin typeface="Aptos"/>
              </a:rPr>
              <a:t>MUST 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16459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27470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688336"/>
            <a:ext cx="402336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141817"/>
                </a:solidFill>
                <a:latin typeface="Aptos"/>
              </a:rPr>
              <a:t>Dealer registration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36392"/>
            <a:ext cx="16459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27470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127248"/>
            <a:ext cx="402336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141817"/>
                </a:solidFill>
                <a:latin typeface="Aptos"/>
              </a:rPr>
              <a:t>Customer + appliance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75304"/>
            <a:ext cx="16459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27470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566160"/>
            <a:ext cx="402336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141817"/>
                </a:solidFill>
                <a:latin typeface="Aptos"/>
              </a:rPr>
              <a:t>Digital passport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14216"/>
            <a:ext cx="16459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27470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4005072"/>
            <a:ext cx="402336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141817"/>
                </a:solidFill>
                <a:latin typeface="Aptos"/>
              </a:rPr>
              <a:t>Warranty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53128"/>
            <a:ext cx="16459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27470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4443984"/>
            <a:ext cx="402336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141817"/>
                </a:solidFill>
                <a:latin typeface="Aptos"/>
              </a:rPr>
              <a:t>Service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92040"/>
            <a:ext cx="16459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27470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4882896"/>
            <a:ext cx="402336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141817"/>
                </a:solidFill>
                <a:latin typeface="Aptos"/>
              </a:rPr>
              <a:t>Expense tracking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874519"/>
            <a:ext cx="331012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5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2" y="2139696"/>
            <a:ext cx="2194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4567DC"/>
                </a:solidFill>
                <a:latin typeface="Aptos"/>
              </a:rPr>
              <a:t>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2697480"/>
            <a:ext cx="16459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4567DC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01184" y="2688336"/>
            <a:ext cx="402336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141817"/>
                </a:solidFill>
                <a:latin typeface="Aptos"/>
              </a:rPr>
              <a:t>Technician profiles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3136392"/>
            <a:ext cx="16459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4567DC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01184" y="3127248"/>
            <a:ext cx="402336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141817"/>
                </a:solidFill>
                <a:latin typeface="Aptos"/>
              </a:rPr>
              <a:t>Booking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2" y="3575304"/>
            <a:ext cx="16459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4567DC"/>
                </a:solidFill>
                <a:latin typeface="Apto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01184" y="3566160"/>
            <a:ext cx="402336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141817"/>
                </a:solidFill>
                <a:latin typeface="Aptos"/>
              </a:rPr>
              <a:t>Service completion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4014216"/>
            <a:ext cx="16459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4567DC"/>
                </a:solidFill>
                <a:latin typeface="Apto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01184" y="4005072"/>
            <a:ext cx="402336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141817"/>
                </a:solidFill>
                <a:latin typeface="Aptos"/>
              </a:rPr>
              <a:t>Admin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5152" y="4453128"/>
            <a:ext cx="16459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4567DC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01184" y="4443984"/>
            <a:ext cx="402336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141817"/>
                </a:solidFill>
                <a:latin typeface="Aptos"/>
              </a:rPr>
              <a:t>Analytics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47304" y="1874519"/>
            <a:ext cx="331012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A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75904" y="2139696"/>
            <a:ext cx="2194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E0A338"/>
                </a:solidFill>
                <a:latin typeface="Aptos"/>
              </a:rPr>
              <a:t>LATER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75904" y="2697480"/>
            <a:ext cx="16459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E0A338"/>
                </a:solidFill>
                <a:latin typeface="Aptos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31936" y="2688336"/>
            <a:ext cx="402336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141817"/>
                </a:solidFill>
                <a:latin typeface="Aptos"/>
              </a:rPr>
              <a:t>OCR receipt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5904" y="3136392"/>
            <a:ext cx="16459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E0A338"/>
                </a:solidFill>
                <a:latin typeface="Apto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31936" y="3127248"/>
            <a:ext cx="402336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141817"/>
                </a:solidFill>
                <a:latin typeface="Aptos"/>
              </a:rPr>
              <a:t>WhatsApp setup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75904" y="3575304"/>
            <a:ext cx="16459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E0A338"/>
                </a:solidFill>
                <a:latin typeface="Aptos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31936" y="3566160"/>
            <a:ext cx="402336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141817"/>
                </a:solidFill>
                <a:latin typeface="Aptos"/>
              </a:rPr>
              <a:t>Repair vs replace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75904" y="4014216"/>
            <a:ext cx="16459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E0A338"/>
                </a:solidFill>
                <a:latin typeface="Aptos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31936" y="4005072"/>
            <a:ext cx="402336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141817"/>
                </a:solidFill>
                <a:latin typeface="Aptos"/>
              </a:rPr>
              <a:t>Real technician network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75904" y="4453128"/>
            <a:ext cx="16459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E0A338"/>
                </a:solidFill>
                <a:latin typeface="Aptos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31936" y="4443984"/>
            <a:ext cx="402336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141817"/>
                </a:solidFill>
                <a:latin typeface="Aptos"/>
              </a:rPr>
              <a:t>Brand integrations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" y="5760720"/>
            <a:ext cx="1417320" cy="310896"/>
          </a:xfrm>
          <a:prstGeom prst="roundRect">
            <a:avLst/>
          </a:prstGeom>
          <a:solidFill>
            <a:srgbClr val="122629"/>
          </a:solidFill>
          <a:ln w="12700">
            <a:solidFill>
              <a:srgbClr val="122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769864"/>
            <a:ext cx="14173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React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06040" y="5760720"/>
            <a:ext cx="1417320" cy="310896"/>
          </a:xfrm>
          <a:prstGeom prst="roundRect">
            <a:avLst/>
          </a:prstGeom>
          <a:solidFill>
            <a:srgbClr val="122629"/>
          </a:solidFill>
          <a:ln w="12700">
            <a:solidFill>
              <a:srgbClr val="122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06040" y="5769864"/>
            <a:ext cx="14173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Node + Express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434840" y="5760720"/>
            <a:ext cx="1417320" cy="310896"/>
          </a:xfrm>
          <a:prstGeom prst="roundRect">
            <a:avLst/>
          </a:prstGeom>
          <a:solidFill>
            <a:srgbClr val="122629"/>
          </a:solidFill>
          <a:ln w="12700">
            <a:solidFill>
              <a:srgbClr val="122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34840" y="5769864"/>
            <a:ext cx="14173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MongoDB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63640" y="5760720"/>
            <a:ext cx="1417320" cy="310896"/>
          </a:xfrm>
          <a:prstGeom prst="roundRect">
            <a:avLst/>
          </a:prstGeom>
          <a:solidFill>
            <a:srgbClr val="122629"/>
          </a:solidFill>
          <a:ln w="12700">
            <a:solidFill>
              <a:srgbClr val="122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63640" y="5769864"/>
            <a:ext cx="14173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Cloudinary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92440" y="5760720"/>
            <a:ext cx="1417320" cy="310896"/>
          </a:xfrm>
          <a:prstGeom prst="roundRect">
            <a:avLst/>
          </a:prstGeom>
          <a:solidFill>
            <a:srgbClr val="122629"/>
          </a:solidFill>
          <a:ln w="12700">
            <a:solidFill>
              <a:srgbClr val="122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92440" y="5769864"/>
            <a:ext cx="14173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JWT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21240" y="5760720"/>
            <a:ext cx="1417320" cy="310896"/>
          </a:xfrm>
          <a:prstGeom prst="roundRect">
            <a:avLst/>
          </a:prstGeom>
          <a:solidFill>
            <a:srgbClr val="122629"/>
          </a:solidFill>
          <a:ln w="12700">
            <a:solidFill>
              <a:srgbClr val="122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21240" y="5769864"/>
            <a:ext cx="14173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Recharts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" y="6537960"/>
            <a:ext cx="13716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36764"/>
                </a:solidFill>
                <a:latin typeface="Aptos"/>
              </a:rPr>
              <a:t>APPLIO  •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194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27470"/>
                </a:solidFill>
                <a:latin typeface="Aptos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8813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141817"/>
                </a:solidFill>
                <a:latin typeface="Aptos"/>
              </a:rPr>
              <a:t>Demo we will show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332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636764"/>
                </a:solidFill>
                <a:latin typeface="Aptos"/>
              </a:rPr>
              <a:t>A 60–90 second story is more powerful than 20 bullet points.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93392"/>
            <a:ext cx="333756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78408" y="2203704"/>
            <a:ext cx="502920" cy="310896"/>
          </a:xfrm>
          <a:prstGeom prst="roundRect">
            <a:avLst/>
          </a:prstGeom>
          <a:solidFill>
            <a:srgbClr val="127470"/>
          </a:solidFill>
          <a:ln w="12700">
            <a:solidFill>
              <a:srgbClr val="12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212848"/>
            <a:ext cx="502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2221992"/>
            <a:ext cx="224028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41817"/>
                </a:solidFill>
                <a:latin typeface="Aptos"/>
              </a:rPr>
              <a:t>Dealer registers sale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44568" y="1993392"/>
            <a:ext cx="333756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45736" y="2203704"/>
            <a:ext cx="502920" cy="310896"/>
          </a:xfrm>
          <a:prstGeom prst="roundRect">
            <a:avLst/>
          </a:prstGeom>
          <a:solidFill>
            <a:srgbClr val="127470"/>
          </a:solidFill>
          <a:ln w="12700">
            <a:solidFill>
              <a:srgbClr val="12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45736" y="2212848"/>
            <a:ext cx="502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3248" y="2221992"/>
            <a:ext cx="224028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41817"/>
                </a:solidFill>
                <a:latin typeface="Aptos"/>
              </a:rPr>
              <a:t>Passport appears for customer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11896" y="1993392"/>
            <a:ext cx="333756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13064" y="2203704"/>
            <a:ext cx="502920" cy="310896"/>
          </a:xfrm>
          <a:prstGeom prst="roundRect">
            <a:avLst/>
          </a:prstGeom>
          <a:solidFill>
            <a:srgbClr val="127470"/>
          </a:solidFill>
          <a:ln w="12700">
            <a:solidFill>
              <a:srgbClr val="12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13064" y="2212848"/>
            <a:ext cx="502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0576" y="2221992"/>
            <a:ext cx="224028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41817"/>
                </a:solidFill>
                <a:latin typeface="Aptos"/>
              </a:rPr>
              <a:t>Service becomes due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621024"/>
            <a:ext cx="333756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8408" y="3831336"/>
            <a:ext cx="502920" cy="310896"/>
          </a:xfrm>
          <a:prstGeom prst="roundRect">
            <a:avLst/>
          </a:prstGeom>
          <a:solidFill>
            <a:srgbClr val="127470"/>
          </a:solidFill>
          <a:ln w="12700">
            <a:solidFill>
              <a:srgbClr val="12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840480"/>
            <a:ext cx="502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19" y="3849624"/>
            <a:ext cx="224028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41817"/>
                </a:solidFill>
                <a:latin typeface="Aptos"/>
              </a:rPr>
              <a:t>Customer books technician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44568" y="3621024"/>
            <a:ext cx="333756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45736" y="3831336"/>
            <a:ext cx="502920" cy="310896"/>
          </a:xfrm>
          <a:prstGeom prst="roundRect">
            <a:avLst/>
          </a:prstGeom>
          <a:solidFill>
            <a:srgbClr val="127470"/>
          </a:solidFill>
          <a:ln w="12700">
            <a:solidFill>
              <a:srgbClr val="12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45736" y="3840480"/>
            <a:ext cx="502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3248" y="3849624"/>
            <a:ext cx="224028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41817"/>
                </a:solidFill>
                <a:latin typeface="Aptos"/>
              </a:rPr>
              <a:t>Service is completed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11896" y="3621024"/>
            <a:ext cx="333756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13064" y="3831336"/>
            <a:ext cx="502920" cy="310896"/>
          </a:xfrm>
          <a:prstGeom prst="roundRect">
            <a:avLst/>
          </a:prstGeom>
          <a:solidFill>
            <a:srgbClr val="127470"/>
          </a:solidFill>
          <a:ln w="12700">
            <a:solidFill>
              <a:srgbClr val="12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13064" y="3840480"/>
            <a:ext cx="502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3849624"/>
            <a:ext cx="224028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41817"/>
                </a:solidFill>
                <a:latin typeface="Aptos"/>
              </a:rPr>
              <a:t>Passport updates automatically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57400" y="5367528"/>
            <a:ext cx="8046720" cy="530352"/>
          </a:xfrm>
          <a:prstGeom prst="roundRect">
            <a:avLst/>
          </a:prstGeom>
          <a:solidFill>
            <a:srgbClr val="E3F3F0"/>
          </a:solidFill>
          <a:ln w="12700">
            <a:solidFill>
              <a:srgbClr val="E3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40280" y="5495544"/>
            <a:ext cx="768096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27470"/>
                </a:solidFill>
                <a:latin typeface="Aptos"/>
              </a:rPr>
              <a:t>End screen: “One appliance. One digital history.”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37960"/>
            <a:ext cx="13716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36764"/>
                </a:solidFill>
                <a:latin typeface="Aptos"/>
              </a:rPr>
              <a:t>APPLIO  •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2926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APPLIO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49377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One appliance.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58521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8CD8CE"/>
                </a:solidFill>
                <a:latin typeface="Aptos"/>
              </a:rPr>
              <a:t>One digital history.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47872"/>
            <a:ext cx="612648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From purchase to lifetime service.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800600"/>
            <a:ext cx="1572768" cy="310896"/>
          </a:xfrm>
          <a:prstGeom prst="roundRect">
            <a:avLst/>
          </a:prstGeom>
          <a:solidFill>
            <a:srgbClr val="127470"/>
          </a:solidFill>
          <a:ln w="12700">
            <a:solidFill>
              <a:srgbClr val="12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09744"/>
            <a:ext cx="1572768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SALE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14016" y="4956048"/>
            <a:ext cx="457200" cy="0"/>
          </a:xfrm>
          <a:prstGeom prst="line">
            <a:avLst/>
          </a:prstGeom>
          <a:ln w="19050">
            <a:solidFill>
              <a:srgbClr val="7EB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79" y="4800600"/>
            <a:ext cx="1572768" cy="310896"/>
          </a:xfrm>
          <a:prstGeom prst="roundRect">
            <a:avLst/>
          </a:prstGeom>
          <a:solidFill>
            <a:srgbClr val="4567DC"/>
          </a:solidFill>
          <a:ln w="12700">
            <a:solidFill>
              <a:srgbClr val="456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79" y="4809744"/>
            <a:ext cx="1572768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PASSPORT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17136" y="4956048"/>
            <a:ext cx="457200" cy="0"/>
          </a:xfrm>
          <a:prstGeom prst="line">
            <a:avLst/>
          </a:prstGeom>
          <a:ln w="19050">
            <a:solidFill>
              <a:srgbClr val="7EB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0" y="4800600"/>
            <a:ext cx="1572768" cy="310896"/>
          </a:xfrm>
          <a:prstGeom prst="roundRect">
            <a:avLst/>
          </a:prstGeom>
          <a:solidFill>
            <a:srgbClr val="279A6B"/>
          </a:solidFill>
          <a:ln w="12700">
            <a:solidFill>
              <a:srgbClr val="27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809744"/>
            <a:ext cx="1572768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WARRANTY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620256" y="4956048"/>
            <a:ext cx="457200" cy="0"/>
          </a:xfrm>
          <a:prstGeom prst="line">
            <a:avLst/>
          </a:prstGeom>
          <a:ln w="19050">
            <a:solidFill>
              <a:srgbClr val="7EB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32320" y="4800600"/>
            <a:ext cx="1572768" cy="310896"/>
          </a:xfrm>
          <a:prstGeom prst="roundRect">
            <a:avLst/>
          </a:prstGeom>
          <a:solidFill>
            <a:srgbClr val="E0A338"/>
          </a:solidFill>
          <a:ln w="12700">
            <a:solidFill>
              <a:srgbClr val="E0A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4809744"/>
            <a:ext cx="1572768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SERVICE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23376" y="4956048"/>
            <a:ext cx="457200" cy="0"/>
          </a:xfrm>
          <a:prstGeom prst="line">
            <a:avLst/>
          </a:prstGeom>
          <a:ln w="19050">
            <a:solidFill>
              <a:srgbClr val="7EB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235440" y="4800600"/>
            <a:ext cx="1572768" cy="310896"/>
          </a:xfrm>
          <a:prstGeom prst="roundRect">
            <a:avLst/>
          </a:prstGeom>
          <a:solidFill>
            <a:srgbClr val="127470"/>
          </a:solidFill>
          <a:ln w="12700">
            <a:solidFill>
              <a:srgbClr val="12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4809744"/>
            <a:ext cx="1572768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06440"/>
            <a:ext cx="6035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EBFBD"/>
                </a:solidFill>
                <a:latin typeface="Aptos"/>
              </a:rPr>
              <a:t>Digital Appliance Passport &amp; After-Sales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5806440"/>
            <a:ext cx="1554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37960"/>
            <a:ext cx="13716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36764"/>
                </a:solidFill>
                <a:latin typeface="Aptos"/>
              </a:rPr>
              <a:t>APPLIO  • 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